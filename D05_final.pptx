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62" r:id="rId5"/>
    <p:sldId id="263" r:id="rId6"/>
    <p:sldId id="275" r:id="rId7"/>
    <p:sldId id="276" r:id="rId8"/>
    <p:sldId id="278" r:id="rId9"/>
    <p:sldId id="281" r:id="rId10"/>
    <p:sldId id="280" r:id="rId11"/>
    <p:sldId id="259" r:id="rId12"/>
    <p:sldId id="260" r:id="rId13"/>
    <p:sldId id="261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82" r:id="rId26"/>
    <p:sldId id="283" r:id="rId27"/>
    <p:sldId id="277" r:id="rId2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405F7-6D55-4702-AB88-A7F20BDF4E31}" v="5" dt="2026-03-05T06:10:09.648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handoutView">
  <p:normalViewPr>
    <p:restoredLeft sz="18025" autoAdjust="0"/>
    <p:restoredTop sz="94639" autoAdjust="0"/>
  </p:normalViewPr>
  <p:slideViewPr>
    <p:cSldViewPr snapToGrid="0">
      <p:cViewPr varScale="1">
        <p:scale>
          <a:sx n="79" d="100"/>
          <a:sy n="79" d="100"/>
        </p:scale>
        <p:origin x="72" y="140"/>
      </p:cViewPr>
      <p:guideLst/>
    </p:cSldViewPr>
  </p:slideViewPr>
  <p:outlineViewPr>
    <p:cViewPr>
      <p:scale>
        <a:sx n="33" d="100"/>
        <a:sy n="33" d="100"/>
      </p:scale>
      <p:origin x="0" y="-329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08"/>
    </p:cViewPr>
  </p:sorterViewPr>
  <p:notesViewPr>
    <p:cSldViewPr snapToGrid="0">
      <p:cViewPr varScale="1">
        <p:scale>
          <a:sx n="88" d="100"/>
          <a:sy n="88" d="100"/>
        </p:scale>
        <p:origin x="126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deepya katikala" userId="569e4935397f519b" providerId="LiveId" clId="{29669B8D-6762-4C6B-AC30-C5D6FCFFFF77}"/>
    <pc:docChg chg="undo custSel addSld modSld modNotesMaster modHandout">
      <pc:chgData name="dedeepya katikala" userId="569e4935397f519b" providerId="LiveId" clId="{29669B8D-6762-4C6B-AC30-C5D6FCFFFF77}" dt="2026-03-05T06:10:09.648" v="164"/>
      <pc:docMkLst>
        <pc:docMk/>
      </pc:docMkLst>
      <pc:sldChg chg="modSp mod">
        <pc:chgData name="dedeepya katikala" userId="569e4935397f519b" providerId="LiveId" clId="{29669B8D-6762-4C6B-AC30-C5D6FCFFFF77}" dt="2026-03-05T03:02:25.120" v="14" actId="27636"/>
        <pc:sldMkLst>
          <pc:docMk/>
          <pc:sldMk cId="1073910438" sldId="268"/>
        </pc:sldMkLst>
        <pc:spChg chg="mod">
          <ac:chgData name="dedeepya katikala" userId="569e4935397f519b" providerId="LiveId" clId="{29669B8D-6762-4C6B-AC30-C5D6FCFFFF77}" dt="2026-03-05T03:02:25.120" v="14" actId="27636"/>
          <ac:spMkLst>
            <pc:docMk/>
            <pc:sldMk cId="1073910438" sldId="268"/>
            <ac:spMk id="3" creationId="{3178ECBE-405C-64F4-7239-1F2A739849BE}"/>
          </ac:spMkLst>
        </pc:spChg>
      </pc:sldChg>
      <pc:sldChg chg="addSp delSp modSp new mod">
        <pc:chgData name="dedeepya katikala" userId="569e4935397f519b" providerId="LiveId" clId="{29669B8D-6762-4C6B-AC30-C5D6FCFFFF77}" dt="2026-03-05T05:46:20.430" v="63" actId="1076"/>
        <pc:sldMkLst>
          <pc:docMk/>
          <pc:sldMk cId="3505808287" sldId="282"/>
        </pc:sldMkLst>
        <pc:spChg chg="mod">
          <ac:chgData name="dedeepya katikala" userId="569e4935397f519b" providerId="LiveId" clId="{29669B8D-6762-4C6B-AC30-C5D6FCFFFF77}" dt="2026-03-05T05:44:06.275" v="38" actId="113"/>
          <ac:spMkLst>
            <pc:docMk/>
            <pc:sldMk cId="3505808287" sldId="282"/>
            <ac:spMk id="2" creationId="{B9A723DA-20CB-5378-B79B-B1D7C1372C95}"/>
          </ac:spMkLst>
        </pc:spChg>
        <pc:spChg chg="del">
          <ac:chgData name="dedeepya katikala" userId="569e4935397f519b" providerId="LiveId" clId="{29669B8D-6762-4C6B-AC30-C5D6FCFFFF77}" dt="2026-03-05T05:44:16.713" v="39"/>
          <ac:spMkLst>
            <pc:docMk/>
            <pc:sldMk cId="3505808287" sldId="282"/>
            <ac:spMk id="3" creationId="{A9A04502-AC90-C3C2-8218-ED06D34A34EA}"/>
          </ac:spMkLst>
        </pc:spChg>
        <pc:graphicFrameChg chg="add mod modGraphic">
          <ac:chgData name="dedeepya katikala" userId="569e4935397f519b" providerId="LiveId" clId="{29669B8D-6762-4C6B-AC30-C5D6FCFFFF77}" dt="2026-03-05T05:46:20.430" v="63" actId="1076"/>
          <ac:graphicFrameMkLst>
            <pc:docMk/>
            <pc:sldMk cId="3505808287" sldId="282"/>
            <ac:graphicFrameMk id="4" creationId="{44FC3B0E-CC97-0193-28B6-9960972109F7}"/>
          </ac:graphicFrameMkLst>
        </pc:graphicFrameChg>
      </pc:sldChg>
      <pc:sldChg chg="modSp new mod">
        <pc:chgData name="dedeepya katikala" userId="569e4935397f519b" providerId="LiveId" clId="{29669B8D-6762-4C6B-AC30-C5D6FCFFFF77}" dt="2026-03-05T06:03:03.780" v="163" actId="11"/>
        <pc:sldMkLst>
          <pc:docMk/>
          <pc:sldMk cId="1354937491" sldId="283"/>
        </pc:sldMkLst>
        <pc:spChg chg="mod">
          <ac:chgData name="dedeepya katikala" userId="569e4935397f519b" providerId="LiveId" clId="{29669B8D-6762-4C6B-AC30-C5D6FCFFFF77}" dt="2026-03-05T06:00:07.660" v="81" actId="27636"/>
          <ac:spMkLst>
            <pc:docMk/>
            <pc:sldMk cId="1354937491" sldId="283"/>
            <ac:spMk id="2" creationId="{0DF4B492-1A0A-75C2-F042-3947B1C291B0}"/>
          </ac:spMkLst>
        </pc:spChg>
        <pc:spChg chg="mod">
          <ac:chgData name="dedeepya katikala" userId="569e4935397f519b" providerId="LiveId" clId="{29669B8D-6762-4C6B-AC30-C5D6FCFFFF77}" dt="2026-03-05T06:03:03.780" v="163" actId="11"/>
          <ac:spMkLst>
            <pc:docMk/>
            <pc:sldMk cId="1354937491" sldId="283"/>
            <ac:spMk id="3" creationId="{1AC61309-F719-BB63-2926-32BF1F9CC0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A4C46C-098C-F889-AEC3-E93B158172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CDB4D-8FDF-498F-7014-6B79B3B663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5D37E-6BBD-41AC-9911-6F2E55F40DBF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785CD-EC33-C350-FAD2-1F9C59A2B3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4D420-1E0F-D3BD-4358-CDBD605B6C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0BE65-B823-4A42-96C5-03BEBB4B7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06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A62E3-0910-4192-8F1A-D716324AF4B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D9972-5285-4983-AD1D-7A403C35A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18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D9972-5285-4983-AD1D-7A403C35AA45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174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A18C-E06E-19A0-45E8-AC5C5F2DB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75034-DD4B-DEE3-E2E5-48F326D8E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6101E-951A-9F9A-C0C9-1D288192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626F2-A856-B585-CD2A-D4255FBB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A351A-5CCA-C1B3-0403-84C121E6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21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7E96E-D722-ECB7-29C1-1169E157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86F3-F06D-4CA0-FE23-E67C9D4F3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7EC40-68CD-99A4-6238-C6BA202C1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A981E-A7FF-6FD0-E349-951A4917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5BF7-0146-6238-DCAC-5EF0C03B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63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B948-4D27-9D5A-035E-E0758019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27988-1DF7-F769-4315-AD0D9883C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E109-E76E-8A9B-A975-F490247C7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9E63D-05F7-571F-22C1-1C5734AC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1AAEA-8FA8-D17C-A62D-C2815CE2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16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255E-9E52-7EAD-F7C9-4266B83E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C2E3E-9720-35C4-F651-6CD152650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587C1-3D3A-AE3B-BA1E-8BBE7FBC1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31514-7462-CAEF-8161-E63BFFDF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65E76-BD23-9415-51FE-31671544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002D-BD4F-84BC-0FF9-14FE1B3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1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E220-C277-8E2F-3126-515C98EA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B3E7E-B0AE-3187-0052-A95782839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F1653-568F-9159-0A99-022CA281F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9E9DD8-FBFC-3DD7-2C29-4B00DA222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951C8-1AC7-93E9-54ED-D336E5E255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B3A2D0-269E-F034-6958-876CC197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1CEE7-7D4F-FAFE-839D-8CA00178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7AB07-2050-3481-6A37-C1DABA4D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05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5E34-AFC4-8434-8104-3EBF7964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B2C2C-9DCF-3A1B-58B5-A5F4BEF2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5F455-C70C-0451-D84B-D0AD6B25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1321E-0922-AE93-63FF-793E911F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25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A0C23B-4E94-19C6-9135-E5710CAC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AFCF79-953C-F399-899F-8046B1686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D4009-295E-B55D-14AA-B79B8A61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8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9B78-123A-2C91-5421-10ABBED9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AC90A-7297-59B3-4C0F-7EB5DC031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1B0E5-C1B1-87A5-3250-A2AB2FFA0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B1923-1F35-10C2-2249-256519D52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318BC-0500-64AA-68C4-D6445913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D3A1B-F600-821B-D2B9-30C2791C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28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FBFA-0213-9F64-F3B8-802A2555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1FD32-4D04-C73F-47D5-2791AE95B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103CE-8DAC-0137-F321-CF9E7DD60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72293-52A5-B6F3-4BD1-CB1F38B9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BC6AB-C58F-7C18-EC89-8A110F53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C7113-C289-4706-A215-42BA85ED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89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B957-C2D6-2AB1-431E-32821093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04969-425F-0B64-4FCE-4D3CC8E27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BC2FD-57FC-F20E-70E1-FEF0D378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C96E-41E5-43CD-FC02-B7CC7043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97444-3851-9476-5661-46E99C3C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20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14C9C-66C8-86BB-63BA-EB0981FB2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F94BA-6944-7708-53A6-A860F39D5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A18BC-1D44-0E67-CD91-F4142159C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9F4DB-BB2F-7531-1391-1543F98FE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EF14E-E875-B707-E19E-FB76DE5B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25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17260-5447-1216-7E89-C6E2021CD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98AC7-AEE1-E263-D9EA-7AA01BD61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3E9B3-71A3-D25A-8A29-4463B02FC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C6991-47CF-413A-BA1B-0D0A903B1EE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09F4D-C80A-8DC1-5960-812FFC496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5BF93-B9D4-D79D-8CE0-C568D42E1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DF730-E283-43C6-8401-8AE9366DC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00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vnegi10/Ethereum_blockchain_parqu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586-025-05797-w" TargetMode="External"/><Relationship Id="rId2" Type="http://schemas.openxmlformats.org/officeDocument/2006/relationships/hyperlink" Target="https://arxiv.org/abs/2203.0936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9.03939?utm_source=chatgpt.com" TargetMode="External"/><Relationship Id="rId5" Type="http://schemas.openxmlformats.org/officeDocument/2006/relationships/hyperlink" Target="https://link.springer.com/article/10.1007/s41870-025-02900-7?utm_source=chatgpt.com" TargetMode="External"/><Relationship Id="rId4" Type="http://schemas.openxmlformats.org/officeDocument/2006/relationships/hyperlink" Target="https://link.springer.com/article/10.1186/s42400-023-00180-x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4B59-A32B-5767-F08A-0F1369314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Network Forensics using Ethereum Blockchain Transactions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4BB06-54CE-8E15-7B21-4704C854C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2000" b="1" dirty="0"/>
              <a:t>Group – D5</a:t>
            </a:r>
          </a:p>
          <a:p>
            <a:r>
              <a:rPr lang="en-IN" sz="2000" b="1" dirty="0"/>
              <a:t>Name </a:t>
            </a:r>
            <a:r>
              <a:rPr lang="en-IN" sz="2000" dirty="0"/>
              <a:t>                                                              </a:t>
            </a:r>
            <a:r>
              <a:rPr lang="en-IN" sz="2000" b="1" dirty="0"/>
              <a:t>Roll Number</a:t>
            </a:r>
          </a:p>
          <a:p>
            <a:r>
              <a:rPr lang="en-IN" sz="2000" dirty="0" err="1"/>
              <a:t>Rangala</a:t>
            </a:r>
            <a:r>
              <a:rPr lang="en-IN" sz="2000" dirty="0"/>
              <a:t> Karthikeya                                        CB.SC.U4AIE23333 </a:t>
            </a:r>
          </a:p>
          <a:p>
            <a:r>
              <a:rPr lang="en-IN" sz="2000" dirty="0" err="1"/>
              <a:t>Tanguturi</a:t>
            </a:r>
            <a:r>
              <a:rPr lang="en-IN" sz="2000" dirty="0"/>
              <a:t> Vinay Krishna Chetty                   CB.SC.U4AIE23341 </a:t>
            </a:r>
          </a:p>
          <a:p>
            <a:r>
              <a:rPr lang="en-IN" sz="2000" dirty="0"/>
              <a:t>Katikala Dedeepya                                         CB.SC.U4AIE23349 </a:t>
            </a:r>
          </a:p>
          <a:p>
            <a:r>
              <a:rPr lang="en-IN" sz="2000" dirty="0"/>
              <a:t>Gutta Karthikeya                                            CB.SC.U4AIE23358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2087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163E-8CCD-DA19-FCCF-63EA8B29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D94B8B-4A2E-4A3C-5087-1DD432B57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0977" y="1368646"/>
            <a:ext cx="9839915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Ethereum is a widely used blockchain platform that supports decentralized applications and high-volume financial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Despite transparency and immutability, Ethereum networks experience fraudulent activities such as bots, wash trading, smurfing, and pump-and-dump schemes.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large scale, high velocity, and complex structure of blockchain data make manual analysis and traditional fraud detection methods ineffective.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leverages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and unsupervised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Ethereum blockchain data at scale.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processing, behavioral feature engineering, graph analysis, and time-series methods are used to detect both known and unknown anomalies.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approach provides a scalable and interpretable framework for Ethereum fraud and anomaly detection.</a:t>
            </a:r>
          </a:p>
        </p:txBody>
      </p:sp>
    </p:spTree>
    <p:extLst>
      <p:ext uri="{BB962C8B-B14F-4D97-AF65-F5344CB8AC3E}">
        <p14:creationId xmlns:p14="http://schemas.microsoft.com/office/powerpoint/2010/main" val="120606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383E-6D5B-B8F1-E7A4-8D71F8B81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853"/>
            <a:ext cx="10515600" cy="59261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blockchain generates massive volumes of transaction data at high speed.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activities are hidden within legitimate transactions and are difficult to identify.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blockchain fraud patterns are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unlabeled and continuously evolving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and manual detection methods do not scale to large blockchain datasets.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intelligent system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anomalous and fraudulent behavior in Ethereum transactions.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large-scale Ethereum blockchain data using Big Data technologies.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store blockchain data efficiently using distributed storage.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transaction-level, wallet-level, and block-level behavioral features.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known fraud patterns such as bots, smurfing, wash trading, and zero-value transactions.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unknown anomalies using unsupervised machine learning models.</a:t>
            </a:r>
          </a:p>
          <a:p>
            <a:pPr lvl="1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graph-based and time-series analysis for understanding coordinated and temporal fraud patterns.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727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FF42-063B-1A6D-A9A1-519A453F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ADAA9-69A4-A9EE-4FD0-1C6E33B5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</a:p>
          <a:p>
            <a:pPr lvl="1"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sz="19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Blockchain Parquet Dataset</a:t>
            </a:r>
            <a:endParaRPr lang="en-US" sz="19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https://huggingface.co/datasets/vnegi10/Ethereum_blockchain_parquet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License: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GPL-3.0 (Open &amp; Free for research)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20.9 GB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core tables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table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table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Key: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block_number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/>
              <a:t>Blockchain Time Range: </a:t>
            </a:r>
            <a:r>
              <a:rPr lang="en-IN" sz="2000" dirty="0"/>
              <a:t>17-Nov-2016  to  25-Mar-2025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66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49A9-ECD9-7C0A-A351-F57287E7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661"/>
            <a:ext cx="10515600" cy="50028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35AFC3-3D1A-FD51-B50F-3B7CA13CE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1776153"/>
              </p:ext>
            </p:extLst>
          </p:nvPr>
        </p:nvGraphicFramePr>
        <p:xfrm>
          <a:off x="676123" y="1289277"/>
          <a:ext cx="10839753" cy="471666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36424">
                  <a:extLst>
                    <a:ext uri="{9D8B030D-6E8A-4147-A177-3AD203B41FA5}">
                      <a16:colId xmlns:a16="http://schemas.microsoft.com/office/drawing/2014/main" val="434734828"/>
                    </a:ext>
                  </a:extLst>
                </a:gridCol>
                <a:gridCol w="2800349">
                  <a:extLst>
                    <a:ext uri="{9D8B030D-6E8A-4147-A177-3AD203B41FA5}">
                      <a16:colId xmlns:a16="http://schemas.microsoft.com/office/drawing/2014/main" val="1390996753"/>
                    </a:ext>
                  </a:extLst>
                </a:gridCol>
                <a:gridCol w="1787979">
                  <a:extLst>
                    <a:ext uri="{9D8B030D-6E8A-4147-A177-3AD203B41FA5}">
                      <a16:colId xmlns:a16="http://schemas.microsoft.com/office/drawing/2014/main" val="536675434"/>
                    </a:ext>
                  </a:extLst>
                </a:gridCol>
                <a:gridCol w="1812471">
                  <a:extLst>
                    <a:ext uri="{9D8B030D-6E8A-4147-A177-3AD203B41FA5}">
                      <a16:colId xmlns:a16="http://schemas.microsoft.com/office/drawing/2014/main" val="3971357948"/>
                    </a:ext>
                  </a:extLst>
                </a:gridCol>
                <a:gridCol w="2058762">
                  <a:extLst>
                    <a:ext uri="{9D8B030D-6E8A-4147-A177-3AD203B41FA5}">
                      <a16:colId xmlns:a16="http://schemas.microsoft.com/office/drawing/2014/main" val="351254083"/>
                    </a:ext>
                  </a:extLst>
                </a:gridCol>
                <a:gridCol w="1843768">
                  <a:extLst>
                    <a:ext uri="{9D8B030D-6E8A-4147-A177-3AD203B41FA5}">
                      <a16:colId xmlns:a16="http://schemas.microsoft.com/office/drawing/2014/main" val="3319570535"/>
                    </a:ext>
                  </a:extLst>
                </a:gridCol>
              </a:tblGrid>
              <a:tr h="241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/>
                        <a:t>S.No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Paper Title &amp; Year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Data Used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Techniques Used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Key Contributions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Limitations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1671448581"/>
                  </a:ext>
                </a:extLst>
              </a:tr>
              <a:tr h="115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Behavior-aware Account De-anonymization on Ethereum Interaction Graph (2022)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Ethereum transaction graph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Graph Neural Networks (HGATE), Self-supervised learning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Proposes a graph-based framework to learn behavioral patterns of Ethereum accounts and identify entities like exchanges, miners, and malicious actors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Focuses on de-anonymization rather than explicit fraud or pump-and-dump detection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251656387"/>
                  </a:ext>
                </a:extLst>
              </a:tr>
              <a:tr h="967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2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Blockchain-based Fraud Detection: A Systematic Review of Ethereum Network Applications (2025)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Survey of Ethereum-based fraud studies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Machine Learning, Deep Learning (SVM, RF, LSTM)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a comprehensive review of Ethereum-specific fraud detection methods and highlights research gaps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Does not implement a new model; mainly a review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274419031"/>
                  </a:ext>
                </a:extLst>
              </a:tr>
              <a:tr h="760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Aparecium: Detecting Scam Behaviors on Ethereum via Biased Random Walk (2023)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Ethereum transaction network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Biased Random Walk, Graph Analysis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Detects scam behaviors by modeling scam life-cycle patterns using transaction graphs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Requires sufficient scam interaction data; computationally expensive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194350152"/>
                  </a:ext>
                </a:extLst>
              </a:tr>
              <a:tr h="86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Detection of Fraudulent Transactions in Ethereum Blockchain Smart Contracts Using Deep Learning (2025)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Ethereum smart contract transactions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Feature optimization + Deep Neural Networks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Achieves high fraud detection accuracy by combining feature selection and deep learning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Limited to smart contract transactions; less focus on network-level analytics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507964339"/>
                  </a:ext>
                </a:extLst>
              </a:tr>
              <a:tr h="656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Intelligent Fraud Detection in Ethereum Transactions Using Machine Learning (2025)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Ethereum transaction dataset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Random Forest, </a:t>
                      </a:r>
                      <a:r>
                        <a:rPr lang="en-IN" sz="1200" dirty="0" err="1"/>
                        <a:t>XGBoost</a:t>
                      </a:r>
                      <a:r>
                        <a:rPr lang="en-IN" sz="1200" dirty="0"/>
                        <a:t>, SVM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Demonstrates effectiveness of classical ML models for Ethereum fraud detection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Relies on labeled data, which is difficult to obtain in real blockchain systems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617058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10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3FF9BD8-DFCC-D817-2B02-67C5EEE0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135"/>
            <a:ext cx="10515600" cy="1208315"/>
          </a:xfrm>
        </p:spPr>
        <p:txBody>
          <a:bodyPr>
            <a:normAutofit/>
          </a:bodyPr>
          <a:lstStyle/>
          <a:p>
            <a:r>
              <a:rPr lang="en-IN" b="1" dirty="0"/>
              <a:t>Big Data Tools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D65941-413B-A399-428A-FB1445928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19860"/>
              </p:ext>
            </p:extLst>
          </p:nvPr>
        </p:nvGraphicFramePr>
        <p:xfrm>
          <a:off x="892629" y="1314450"/>
          <a:ext cx="10461171" cy="4515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03371">
                  <a:extLst>
                    <a:ext uri="{9D8B030D-6E8A-4147-A177-3AD203B41FA5}">
                      <a16:colId xmlns:a16="http://schemas.microsoft.com/office/drawing/2014/main" val="4122703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3780071"/>
                    </a:ext>
                  </a:extLst>
                </a:gridCol>
              </a:tblGrid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Technologies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305918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 Data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Spark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502741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 (HDFS compatible)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594042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Parquet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121494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 Face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12233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PySpark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752362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Spark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367489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863815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/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Scikit-learn, PyTorch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235041"/>
                  </a:ext>
                </a:extLst>
              </a:tr>
              <a:tr h="451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88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90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CA828D9-8CC2-E8F7-947B-EB7403FD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7663"/>
            <a:ext cx="10515600" cy="5829300"/>
          </a:xfrm>
        </p:spPr>
        <p:txBody>
          <a:bodyPr/>
          <a:lstStyle/>
          <a:p>
            <a:pPr marL="0" indent="0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86FCE4-1AC3-5288-ADF1-C745AA61B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997150"/>
              </p:ext>
            </p:extLst>
          </p:nvPr>
        </p:nvGraphicFramePr>
        <p:xfrm>
          <a:off x="609600" y="1463040"/>
          <a:ext cx="10515600" cy="4297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2944484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23897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/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53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 Face Datasets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Directly load Ethereum blockchain Parquet files hosted online. - Support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loading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(e.g., only first 1 million transactions) to avoid memory issues. - Convert datasets to Arrow format internally for efficient handling.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40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/ PySpark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Load the datasets from local Parquet storage into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Spark DataFrames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- Spark allows distributed ingestion of large datasets without exceeding memory limits.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338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Streaming &amp; Lazy Loading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Hugging Face Datasets supports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on-the-fly data streaming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so we don’t have to load full blockchain into RAM at once. - Spark also evaluates transformations lazily, saving memory.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75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5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A3F65-CF62-6D2E-F6CC-DF4959491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0068"/>
            <a:ext cx="10515600" cy="67990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Shell Startup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9671A-ECB2-C1F1-3561-1F05D8B0B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7" y="859972"/>
            <a:ext cx="8240485" cy="249502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AB42E2-CE92-20B2-C321-8D43193C8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8" y="3668914"/>
            <a:ext cx="8240486" cy="300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0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DE0B4-3B3C-D210-75F5-094D49302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943A-882A-7EB7-8C9B-1069D6F0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5" y="466271"/>
            <a:ext cx="10515600" cy="42953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UI – Stages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F2C3-2782-D841-8349-B05356F8C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5803"/>
            <a:ext cx="10515600" cy="528116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real-time status of individual tasks within a running stage.</a:t>
            </a:r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393BC-31A0-5084-21BA-0D83C52AF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7" y="1290363"/>
            <a:ext cx="8273144" cy="26981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D412A7-08C1-5819-47F3-1DE3C7D2D2A8}"/>
              </a:ext>
            </a:extLst>
          </p:cNvPr>
          <p:cNvSpPr txBox="1"/>
          <p:nvPr/>
        </p:nvSpPr>
        <p:spPr>
          <a:xfrm>
            <a:off x="381000" y="402348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/ Executors Tab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F5E6B1-5050-6A82-48CF-2FF4A624D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7" y="4581682"/>
            <a:ext cx="8654142" cy="190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0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D69E3-52BF-B939-25F1-F7900682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E144D-8F98-CB1F-B663-F6F3AFB25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158297"/>
            <a:ext cx="10515600" cy="756104"/>
          </a:xfrm>
        </p:spPr>
        <p:txBody>
          <a:bodyPr/>
          <a:lstStyle/>
          <a:p>
            <a:r>
              <a:rPr lang="en-IN" dirty="0"/>
              <a:t>SPARK COMMANDS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C688-9F37-AB87-94C4-F9CA361D4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257"/>
            <a:ext cx="10515600" cy="5153706"/>
          </a:xfrm>
        </p:spPr>
        <p:txBody>
          <a:bodyPr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Spark: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$HOME/spark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./sbin/start-master.sh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./sbin/start-worker.sh spark://localhost:7077 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Spark Shell 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spark-shell                </a:t>
            </a:r>
          </a:p>
          <a:p>
            <a:pPr lvl="1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/ Set Environment Variables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JAVA_HOME=/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/lib/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/java-11-openjdk-amd64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HADOOP_HOME=$HOME/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PATH=$PATH:$HADOOP_HOME/bin:$HADOOP_HOME/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:$JAVA_HOME/bin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SPARK_HOME=$HOME/spark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PATH=$PATH:$SPARK_HOME/bin:$SPARK_HOME/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~/.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bashrc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Submit / Run Scripts: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spark-submit --master local[*] ethereum_forensics.py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spark-submit --class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MainApp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--master local[*] ethereum_blocks.jar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Spark Jobs: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UI: http://localhost:4040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04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6A53-24F8-1B4A-3E41-5B558C0E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7233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18102-B34F-D350-2C23-E3C701017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358"/>
            <a:ext cx="10515600" cy="491460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1. Data Collection &amp; Ingestion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Ethereum blockchain block and transaction data collected in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Parquet format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block details, transaction values, gas information, timestamps, and wallet addresses.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ingested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(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distributed and scalable processing.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2. Data Storage &amp; Preprocessing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Hadoop-style distributed storage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Parquet.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Removal of incomplete, corrupted, and invalid transaction records.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of critical fields such as transaction value, gas usage, gas limit, and wallet addresses.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3. Feature Engineering</a:t>
            </a:r>
          </a:p>
          <a:p>
            <a:pPr lvl="1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Transaction-level features: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 value, gas used, gas limit, transaction fee, success/failure.</a:t>
            </a:r>
          </a:p>
          <a:p>
            <a:pPr lvl="1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Wallet-level features: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count, average value, failure rate, gas usage variance.</a:t>
            </a:r>
          </a:p>
          <a:p>
            <a:pPr lvl="1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Block-level features: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 gas used, gas utilization, base fee per gas, transactions per block.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profiling instead of raw data analysis.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12A5-D658-6A98-81B7-CA2364B9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4007"/>
            <a:ext cx="10515600" cy="547295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4. Exploratory Data Analysis (EDA)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of transaction values and gas usage.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gas limit vs gas used and transaction distributions.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skewed behavior, spikes, and abnormal trends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5. Rule-Based Anomaly Detection</a:t>
            </a:r>
          </a:p>
          <a:p>
            <a:pPr lvl="1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 detection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high transaction frequency with low ETH value.</a:t>
            </a:r>
          </a:p>
          <a:p>
            <a:pPr lvl="1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Smurfing detection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many small-value transactions.</a:t>
            </a:r>
          </a:p>
          <a:p>
            <a:pPr lvl="1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Zero-value transaction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for spam activity.</a:t>
            </a:r>
          </a:p>
          <a:p>
            <a:pPr lvl="1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 trading detection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repeated sender–receiver wallet pairs.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6. Machine Learning-Based Anomaly Detection</a:t>
            </a:r>
          </a:p>
          <a:p>
            <a:pPr lvl="1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anomalous wallets and blocks without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lvl="1">
              <a:lnSpc>
                <a:spcPct val="1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deviations by measuring reconstruction error.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discover unknown and evolving fraud patterns.</a:t>
            </a:r>
          </a:p>
          <a:p>
            <a:pPr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56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427C-013D-9C2D-120F-B4B026E8F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350"/>
            <a:ext cx="10515600" cy="566261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7. Graph-Based Network Analysis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transactions modeled as a directed graph.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represent wallets; edges represent ETH transfers.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transactions, repeated interactions, and coordinated behavior.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8. Time-Series &amp; Temporal Analysis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grouped into fixed time windows.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averages computed for transaction count and ETH volume.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sudden spikes and drops indicating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pump-and-dump activity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9. Visualization &amp; Interpretation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histograms, bar charts, scatter plots, time-series plots, and transaction graphs.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validation and interpretation of detected anomalies.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explainable and transparent fraud detection.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541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9B36-B3DF-A344-6E7B-06BDD23B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888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AFD48-36C4-C128-80B5-23FFA09F2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1164"/>
            <a:ext cx="10515600" cy="5025799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is an unsupervised machine learning algorithm designed specifically for anomaly detection.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based on the idea that anomalies are easier to isolate than normal data points.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profiling normal behavior, it directly isolates unusual observations.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data points require many random splits to be isolated.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 require fewer splits because they are rare and different.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with shorter path lengths in trees are considered anomalous.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Working: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Randomly selects a feature and a split value.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multiple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trees (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iTrees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 point is passed through all trees.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path length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computed:</a:t>
            </a:r>
          </a:p>
          <a:p>
            <a:pPr lvl="2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path → anomaly</a:t>
            </a:r>
          </a:p>
          <a:p>
            <a:pPr lvl="2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path → normal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Isolation Forest Made Easy &amp; How To Tutorial">
            <a:extLst>
              <a:ext uri="{FF2B5EF4-FFF2-40B4-BE49-F238E27FC236}">
                <a16:creationId xmlns:a16="http://schemas.microsoft.com/office/drawing/2014/main" id="{A6CA43C3-2EEB-810F-6180-3226066DC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86" y="3859328"/>
            <a:ext cx="4561114" cy="256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18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780D-34F4-B178-D714-3D0A2A61D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1064"/>
            <a:ext cx="10515600" cy="582589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computational cost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blockchain-scale data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integrate with Spark workflows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effective for extremely complex temporal patterns alone.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results achieved when combined with: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Autoencoders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analysis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435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AC382-19E3-79DC-84C0-C10562B7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43" y="152855"/>
            <a:ext cx="10515600" cy="761546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62186-6163-2F7D-8549-E771D97AC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428"/>
            <a:ext cx="10515600" cy="6041571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deep learning model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to reconstruct its input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anomaly detection when labeled data is unavailable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 have high reconstruction error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 Architecture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with three main parts: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Compresses input features into low-dimensional representation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noise and redundancy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essential behavioral patterns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dense layers with activation functions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Space (Bottleneck)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layer in the network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compressed representation of normal behavior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 model to learn meaningful patterns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Anomalies fail to be represented well here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Reconstructs original input from latent representation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to match input as closely as possible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reconstructed transaction or wallet features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006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D2A64-94BF-D496-1325-DF79148E4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364"/>
            <a:ext cx="10515600" cy="5711599"/>
          </a:xfrm>
        </p:spPr>
        <p:txBody>
          <a:bodyPr>
            <a:normAutofit/>
          </a:bodyPr>
          <a:lstStyle/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only on normal or majority data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= Output (self-supervised learning)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</a:p>
          <a:p>
            <a:pPr lvl="2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</a:t>
            </a:r>
          </a:p>
          <a:p>
            <a:pPr lvl="2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using gradient descent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Error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original input and reconstructed output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data → low reconstruction error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 data → high reconstruction error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anomaly score</a:t>
            </a:r>
          </a:p>
          <a:p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Process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transaction/wallet data through trained autoencoder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reconstruction error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error with predefined threshold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as:</a:t>
            </a:r>
          </a:p>
          <a:p>
            <a:pPr lvl="2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  <a:p>
            <a:pPr lvl="2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684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3143-FEAC-CA30-1621-96EBAFE0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Pump and Dump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8ECBE-405C-64F4-7239-1F2A73984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 pump and dump is a fraudulent market manipulation strategy in which attackers: </a:t>
            </a:r>
          </a:p>
          <a:p>
            <a:pPr lvl="1"/>
            <a:r>
              <a:rPr lang="en-US" sz="2000" dirty="0"/>
              <a:t>Artificially increase activity and price (Pump) by creating high transaction volume and ETH inflow. </a:t>
            </a:r>
          </a:p>
          <a:p>
            <a:pPr lvl="1"/>
            <a:r>
              <a:rPr lang="en-US" sz="2000" dirty="0"/>
              <a:t>Rapidly sell or withdraw funds (Dump), causing a sudden drop in activity and value. </a:t>
            </a:r>
          </a:p>
          <a:p>
            <a:r>
              <a:rPr lang="en-US" sz="2000" dirty="0"/>
              <a:t>Working Process:</a:t>
            </a:r>
          </a:p>
          <a:p>
            <a:pPr lvl="1"/>
            <a:r>
              <a:rPr lang="en-US" sz="2000" dirty="0"/>
              <a:t>Transaction timestamps are converted to readable time format and grouped into 10-minute windows</a:t>
            </a:r>
          </a:p>
          <a:p>
            <a:pPr lvl="1"/>
            <a:r>
              <a:rPr lang="en-US" sz="2000" dirty="0"/>
              <a:t>Key metrics computed per window:</a:t>
            </a:r>
          </a:p>
          <a:p>
            <a:pPr lvl="2"/>
            <a:r>
              <a:rPr lang="en-US" dirty="0"/>
              <a:t>Transaction count</a:t>
            </a:r>
          </a:p>
          <a:p>
            <a:pPr lvl="2"/>
            <a:r>
              <a:rPr lang="en-US" dirty="0"/>
              <a:t>Total ETH transferred</a:t>
            </a:r>
          </a:p>
          <a:p>
            <a:pPr lvl="1"/>
            <a:r>
              <a:rPr lang="en-US" sz="2000" dirty="0"/>
              <a:t>Rolling averages (1-hour baseline) are calculated using the previous 6 windows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910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6FA0D-02BF-AF6C-F851-A98423AD0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8214"/>
            <a:ext cx="10515600" cy="576874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Relative spike detection is performed using: 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A pump is detected when: 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Transaction spike &gt; 1.5 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ETH volume spike &gt; 1.5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 dump is confirmed when the next window shows a sharp decline: 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Future transaction change &lt; −0.5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Time windows satisfying both conditions are flagged as Pump-and-Dump events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Detected events are validated through time-series visualizations 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5D699C-1A05-4D5F-ECDA-D7CEE88CA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19" y="995577"/>
            <a:ext cx="4910183" cy="8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10EE-41DC-C24C-ED59-7CDF61E1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948B3-8C5F-C932-AE93-88DB2CD8D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Data Analysis (EDA) Results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83384-CDB2-4CB2-50BE-22EBE0DD9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93" y="2643791"/>
            <a:ext cx="3400900" cy="2715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C4479-B0E8-564F-C413-54E8EBA4C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837" y="2774544"/>
            <a:ext cx="2965876" cy="2374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7A0341-797E-4B37-0373-4B8EA1F3E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351" y="2774544"/>
            <a:ext cx="3508259" cy="237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91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DAC47-1062-B9AC-CF06-727D49533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021"/>
            <a:ext cx="11228614" cy="5678942"/>
          </a:xfrm>
        </p:spPr>
        <p:txBody>
          <a:bodyPr/>
          <a:lstStyle/>
          <a:p>
            <a:r>
              <a:rPr lang="en-IN" dirty="0"/>
              <a:t>Transaction-Level Anomalies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02C67-A562-3AD2-D62D-8C484FE40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646" y="1162037"/>
            <a:ext cx="3745106" cy="25349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CAB667-628C-E0DF-6521-62A7C22144E6}"/>
              </a:ext>
            </a:extLst>
          </p:cNvPr>
          <p:cNvSpPr txBox="1"/>
          <p:nvPr/>
        </p:nvSpPr>
        <p:spPr>
          <a:xfrm>
            <a:off x="6097362" y="558284"/>
            <a:ext cx="60946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Failed Transaction Analysis (Wallet-Level Anomaly)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13485E-4C7E-EF16-6EBD-494A209CF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032" y="1572654"/>
            <a:ext cx="4277322" cy="21243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971304-4AF3-2AD9-EB35-3F70CB55FDB1}"/>
              </a:ext>
            </a:extLst>
          </p:cNvPr>
          <p:cNvSpPr txBox="1"/>
          <p:nvPr/>
        </p:nvSpPr>
        <p:spPr>
          <a:xfrm>
            <a:off x="3892024" y="3654807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Address-Level </a:t>
            </a:r>
            <a:r>
              <a:rPr lang="en-IN" sz="2400" dirty="0" err="1"/>
              <a:t>Behavioral</a:t>
            </a:r>
            <a:r>
              <a:rPr lang="en-IN" sz="2400" dirty="0"/>
              <a:t>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50EED9-183B-195A-C681-E950A287C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548" y="4418191"/>
            <a:ext cx="4315427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37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2BB5-00AA-DD1B-4976-9F45C2622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929"/>
            <a:ext cx="10515600" cy="5932034"/>
          </a:xfrm>
        </p:spPr>
        <p:txBody>
          <a:bodyPr/>
          <a:lstStyle/>
          <a:p>
            <a:r>
              <a:rPr lang="en-IN" dirty="0"/>
              <a:t>Bot Wallet Detection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53529-6CAD-D2E5-4D07-954465F8A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15" y="1058985"/>
            <a:ext cx="4744112" cy="2353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54A0A2-4A37-7E9A-824A-B0B16016C43F}"/>
              </a:ext>
            </a:extLst>
          </p:cNvPr>
          <p:cNvSpPr txBox="1"/>
          <p:nvPr/>
        </p:nvSpPr>
        <p:spPr>
          <a:xfrm>
            <a:off x="5929314" y="69828"/>
            <a:ext cx="60946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Wash Trading Indicator (Repeated Sender–Receiver Pairs) 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96B15E-3F30-6F4A-9149-B8E813DC4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115" y="968764"/>
            <a:ext cx="5313761" cy="21880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773634-94FA-18E6-F715-D9BA55F62AD0}"/>
              </a:ext>
            </a:extLst>
          </p:cNvPr>
          <p:cNvSpPr txBox="1"/>
          <p:nvPr/>
        </p:nvSpPr>
        <p:spPr>
          <a:xfrm>
            <a:off x="2030185" y="3587089"/>
            <a:ext cx="81316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Wash Trading Wallet Detection (Circular Transactions)</a:t>
            </a:r>
            <a:endParaRPr lang="en-IN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BAEE7C-EB00-BF47-C6E0-58C5A4F0F3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336" y="4110309"/>
            <a:ext cx="3371550" cy="262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90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1AEDB-27D4-4EF4-B0D2-CBA3BE500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107"/>
            <a:ext cx="10515600" cy="5972856"/>
          </a:xfrm>
        </p:spPr>
        <p:txBody>
          <a:bodyPr/>
          <a:lstStyle/>
          <a:p>
            <a:r>
              <a:rPr lang="en-IN" dirty="0"/>
              <a:t>Isolation Forest-Based Anomaly Detection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0150C-8B9E-3243-F161-20E69CE44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681037"/>
            <a:ext cx="3686689" cy="2410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B2F685-D812-A81D-943B-EFEB8EB7C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35" y="619832"/>
            <a:ext cx="4544059" cy="2248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665219-34F5-D710-D7DD-67A8AD72FE0C}"/>
              </a:ext>
            </a:extLst>
          </p:cNvPr>
          <p:cNvSpPr txBox="1"/>
          <p:nvPr/>
        </p:nvSpPr>
        <p:spPr>
          <a:xfrm>
            <a:off x="704170" y="3243583"/>
            <a:ext cx="6094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Autoencoder-Based Anomaly Detection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43DC7D-47B9-8623-CFDF-B64243173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151" y="4071608"/>
            <a:ext cx="4563112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97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51382-92C4-6E80-FEAF-6904C9003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50"/>
            <a:ext cx="10515600" cy="5891213"/>
          </a:xfrm>
        </p:spPr>
        <p:txBody>
          <a:bodyPr/>
          <a:lstStyle/>
          <a:p>
            <a:r>
              <a:rPr lang="en-IN" dirty="0"/>
              <a:t>Money Laundering Patterns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70A3D-8F61-3309-B50F-71FE625F6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889" y="992419"/>
            <a:ext cx="3734321" cy="319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BA1284-351D-79D0-26E8-BB4817A64824}"/>
              </a:ext>
            </a:extLst>
          </p:cNvPr>
          <p:cNvSpPr txBox="1"/>
          <p:nvPr/>
        </p:nvSpPr>
        <p:spPr>
          <a:xfrm>
            <a:off x="6169479" y="311705"/>
            <a:ext cx="6094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Pump-and-Dump Detection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D6449C-21D4-EDBA-087B-3FD53B32C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509" y="992419"/>
            <a:ext cx="4629692" cy="22947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DE24C7-E098-802C-53A3-87523CAC7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643" y="3598871"/>
            <a:ext cx="4562856" cy="226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49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23DA-20CB-5378-B79B-B1D7C1372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10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FC3B0E-CC97-0193-28B6-996097210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328660"/>
              </p:ext>
            </p:extLst>
          </p:nvPr>
        </p:nvGraphicFramePr>
        <p:xfrm>
          <a:off x="519089" y="987228"/>
          <a:ext cx="11153821" cy="564012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621577">
                  <a:extLst>
                    <a:ext uri="{9D8B030D-6E8A-4147-A177-3AD203B41FA5}">
                      <a16:colId xmlns:a16="http://schemas.microsoft.com/office/drawing/2014/main" val="1803698491"/>
                    </a:ext>
                  </a:extLst>
                </a:gridCol>
                <a:gridCol w="2133061">
                  <a:extLst>
                    <a:ext uri="{9D8B030D-6E8A-4147-A177-3AD203B41FA5}">
                      <a16:colId xmlns:a16="http://schemas.microsoft.com/office/drawing/2014/main" val="390017283"/>
                    </a:ext>
                  </a:extLst>
                </a:gridCol>
                <a:gridCol w="2133061">
                  <a:extLst>
                    <a:ext uri="{9D8B030D-6E8A-4147-A177-3AD203B41FA5}">
                      <a16:colId xmlns:a16="http://schemas.microsoft.com/office/drawing/2014/main" val="2716341677"/>
                    </a:ext>
                  </a:extLst>
                </a:gridCol>
                <a:gridCol w="2133061">
                  <a:extLst>
                    <a:ext uri="{9D8B030D-6E8A-4147-A177-3AD203B41FA5}">
                      <a16:colId xmlns:a16="http://schemas.microsoft.com/office/drawing/2014/main" val="2317829226"/>
                    </a:ext>
                  </a:extLst>
                </a:gridCol>
                <a:gridCol w="2133061">
                  <a:extLst>
                    <a:ext uri="{9D8B030D-6E8A-4147-A177-3AD203B41FA5}">
                      <a16:colId xmlns:a16="http://schemas.microsoft.com/office/drawing/2014/main" val="3413271401"/>
                    </a:ext>
                  </a:extLst>
                </a:gridCol>
              </a:tblGrid>
              <a:tr h="308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Paper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Method Used</a:t>
                      </a:r>
                      <a:endParaRPr lang="en-I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Detection Type</a:t>
                      </a:r>
                      <a:endParaRPr lang="en-I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Limitations</a:t>
                      </a:r>
                      <a:endParaRPr lang="en-I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Our Project Contribution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867957068"/>
                  </a:ext>
                </a:extLst>
              </a:tr>
              <a:tr h="97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Zhou et al., 2022</a:t>
                      </a:r>
                      <a:r>
                        <a:rPr lang="en-US" sz="1400" dirty="0"/>
                        <a:t> Behavior-aware Account De-anonymization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Graph Neural Networks (</a:t>
                      </a:r>
                      <a:r>
                        <a:rPr lang="en-IN" sz="1400" dirty="0" err="1"/>
                        <a:t>Ethident</a:t>
                      </a:r>
                      <a:r>
                        <a:rPr lang="en-IN" sz="1400" dirty="0"/>
                        <a:t>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Account identity classification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Focuses only on de-anonymization, not anomaly detection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Our system detects </a:t>
                      </a:r>
                      <a:r>
                        <a:rPr lang="en-US" sz="1400" b="1" dirty="0"/>
                        <a:t>behavioral anomalies, bots, and suspicious transactions</a:t>
                      </a:r>
                      <a:r>
                        <a:rPr lang="en-US" sz="1400" dirty="0"/>
                        <a:t> using feature-based analytics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541051111"/>
                  </a:ext>
                </a:extLst>
              </a:tr>
              <a:tr h="97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Ghnemat &amp; Mosa, 2025</a:t>
                      </a:r>
                      <a:r>
                        <a:rPr lang="en-IN" sz="1400"/>
                        <a:t> Blockchain Fraud Detection Survey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Literature review of ML methods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Overview of fraud detection techniques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Does not implement practical detection system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Our project implements a </a:t>
                      </a:r>
                      <a:r>
                        <a:rPr lang="en-US" sz="1400" b="1"/>
                        <a:t>complete big-data pipeline for anomaly detection</a:t>
                      </a:r>
                      <a:r>
                        <a:rPr lang="en-US" sz="1400"/>
                        <a:t> on Ethereum transactions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444909460"/>
                  </a:ext>
                </a:extLst>
              </a:tr>
              <a:tr h="97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/>
                        <a:t>Shen et al., 2023</a:t>
                      </a:r>
                      <a:r>
                        <a:rPr lang="da-DK" sz="1400" dirty="0"/>
                        <a:t> Aparecium</a:t>
                      </a: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Biased Random Walk + Random Forest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Scam wallet detection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Requires labeled data and focuses mainly on scam accounts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Our system performs </a:t>
                      </a:r>
                      <a:r>
                        <a:rPr lang="en-US" sz="1400" b="1"/>
                        <a:t>unsupervised anomaly detection without labeled data</a:t>
                      </a:r>
                      <a:r>
                        <a:rPr lang="en-US" sz="1400"/>
                        <a:t> using Isolation Forest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269402015"/>
                  </a:ext>
                </a:extLst>
              </a:tr>
              <a:tr h="707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Sethy &amp; Ray, 2025</a:t>
                      </a:r>
                      <a:r>
                        <a:rPr lang="en-US" sz="1400"/>
                        <a:t> Deep Learning Fraud Detection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Deep Neural Network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Fraudulent transaction classification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Works mainly on smart contract fraud datasets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Our approach analyzes </a:t>
                      </a:r>
                      <a:r>
                        <a:rPr lang="en-US" sz="1400" b="1"/>
                        <a:t>transaction, wallet, and block behavior simultaneously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151153956"/>
                  </a:ext>
                </a:extLst>
              </a:tr>
              <a:tr h="97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Satish &amp; Ganesh, 2025</a:t>
                      </a:r>
                      <a:r>
                        <a:rPr lang="en-US" sz="1400"/>
                        <a:t> ML-based Fraud Detection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Supervised ML models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Transaction fraud classification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Requires labeled datasets and focuses on specific fraud types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Our system detects </a:t>
                      </a:r>
                      <a:r>
                        <a:rPr lang="en-US" sz="1400" b="1" dirty="0"/>
                        <a:t>multiple anomaly patterns including bots, wash trading, smurfing, and pump-and-dump events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419049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808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B492-1A0A-75C2-F042-3947B1C2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28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61309-F719-BB63-2926-32BF1F9CC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254" y="1399922"/>
            <a:ext cx="9273472" cy="39246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Vinay: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Lead: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big-data pipeline and implemented large-scale Ethereum data ingestion and preprocessing using Apache Spark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Gutta Karthikeya : Data Analytics &amp; Feature Engineering: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exploratory data analysis and engineered transaction-level, wallet-level, and block-level features for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Katikala Dedeepya: Machine Learning &amp; Anomaly Detection: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machine learning framework for identifying suspicious blockchain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Isolation Forest and Autoencoder models.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Rangala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Karthikeya : Network &amp; Temporal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blockchain interactions and temporal patterns for fraud detection. Conducted graph-based and time-series analysis to detect suspicious patterns such as wash trading, circular transactions, and pump-and-dump events.</a:t>
            </a:r>
          </a:p>
        </p:txBody>
      </p:sp>
    </p:spTree>
    <p:extLst>
      <p:ext uri="{BB962C8B-B14F-4D97-AF65-F5344CB8AC3E}">
        <p14:creationId xmlns:p14="http://schemas.microsoft.com/office/powerpoint/2010/main" val="1354937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3BBF-E22A-2EB7-1E33-6B4CD534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07884-DF11-0BBF-4221-D0EE1BDD7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779"/>
            <a:ext cx="10515600" cy="484618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Zhou, C. Hu, J. Chi, J. Wu, M. Shen, and Q. Xuan,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-aware account de-anonymization on Ethereum interaction graph,”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arXiv:2203.09360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Link: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https://arxiv.org/abs/2203.09360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Ghnemat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H. Mosa, “Blockchain-based fraud detection: A systematic review of Ethereum network applications,”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Computing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2025.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Link (publisher):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https://link.springer.com/article/10.1007/s10586-025-05797-w</a:t>
            </a:r>
            <a:r>
              <a:rPr lang="en-US" dirty="0"/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Shen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Aparecium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Understanding and detecting scam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Ethereum via biased random walk,”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vol. XX, no. XX, pp. XX–XX, 2023.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Link:</a:t>
            </a:r>
            <a:r>
              <a:rPr lang="en-IN" dirty="0"/>
              <a:t> </a:t>
            </a:r>
            <a:r>
              <a:rPr lang="en-IN" dirty="0">
                <a:hlinkClick r:id="rId4"/>
              </a:rPr>
              <a:t>https://link.springer.com/article/10.1186/s42400-023-00180-x</a:t>
            </a:r>
            <a:r>
              <a:rPr lang="en-IN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A. Sethy and A. Ray, “Detection of fraudulent transactions in Ethereum blockchain smart contracts using deep learning,”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Information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2025.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Link:</a:t>
            </a:r>
            <a:r>
              <a:rPr lang="en-IN" dirty="0"/>
              <a:t> </a:t>
            </a:r>
            <a:r>
              <a:rPr lang="en-IN" dirty="0">
                <a:hlinkClick r:id="rId5"/>
              </a:rPr>
              <a:t>https://link.springer.com/article/10.1007/s41870-025-02900-7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V. Satish and S. Ganesh, “Intelligent fraud detection in Ethereum transactions using machine learning,”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Research in Applied Science &amp; Engineering Technology (IJRASET)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XX, no. XX, 2025.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Link :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https://arxiv.org/abs/2509.03939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643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2494</Words>
  <Application>Microsoft Office PowerPoint</Application>
  <PresentationFormat>Widescreen</PresentationFormat>
  <Paragraphs>317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Cryptocurrency Network Forensics using Ethereum Blockchain Transactions</vt:lpstr>
      <vt:lpstr>Introduction</vt:lpstr>
      <vt:lpstr>PowerPoint Presentation</vt:lpstr>
      <vt:lpstr>Dataset</vt:lpstr>
      <vt:lpstr>Literature Review</vt:lpstr>
      <vt:lpstr>Big Data Tools</vt:lpstr>
      <vt:lpstr>PowerPoint Presentation</vt:lpstr>
      <vt:lpstr>Spark Shell Startup</vt:lpstr>
      <vt:lpstr>Spark UI – Stages </vt:lpstr>
      <vt:lpstr>SPARK COMMANDS </vt:lpstr>
      <vt:lpstr>Methodology</vt:lpstr>
      <vt:lpstr>PowerPoint Presentation</vt:lpstr>
      <vt:lpstr>PowerPoint Presentation</vt:lpstr>
      <vt:lpstr>Isolation Forest</vt:lpstr>
      <vt:lpstr>PowerPoint Presentation</vt:lpstr>
      <vt:lpstr>Autoencoder</vt:lpstr>
      <vt:lpstr>PowerPoint Presentation</vt:lpstr>
      <vt:lpstr>Pump and Dump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Results Comparision</vt:lpstr>
      <vt:lpstr>Contributions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dedeepya katikala</dc:creator>
  <cp:lastModifiedBy>dedeepya katikala</cp:lastModifiedBy>
  <cp:revision>1</cp:revision>
  <dcterms:created xsi:type="dcterms:W3CDTF">2026-03-04T17:29:33Z</dcterms:created>
  <dcterms:modified xsi:type="dcterms:W3CDTF">2026-03-05T06:10:20Z</dcterms:modified>
</cp:coreProperties>
</file>